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Raleway" pitchFamily="2" charset="0"/>
      <p:regular r:id="rId14"/>
    </p:embeddedFont>
    <p:embeddedFont>
      <p:font typeface="Roboto" panose="02000000000000000000" pitchFamily="2" charset="0"/>
      <p:regular r:id="rId15"/>
    </p:embeddedFont>
    <p:embeddedFont>
      <p:font typeface="Roboto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607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imagevision.ai/blog/understanding-computer-vision-a-technical-overview/" TargetMode="External"/><Relationship Id="rId3" Type="http://schemas.openxmlformats.org/officeDocument/2006/relationships/hyperlink" Target="https://www.geeksforgeeks.org/computer-vision/computer-vision-101/" TargetMode="External"/><Relationship Id="rId7" Type="http://schemas.openxmlformats.org/officeDocument/2006/relationships/hyperlink" Target="https://link.springer.com/article/10.1007/s10462-026-11542-5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tomcamp.com/what-is-computer-vision-a-beginners-guide-in-2024/" TargetMode="External"/><Relationship Id="rId5" Type="http://schemas.openxmlformats.org/officeDocument/2006/relationships/hyperlink" Target="https://www.metaeye.co.uk/what-are-the-three-levels-of-computer-vision" TargetMode="External"/><Relationship Id="rId4" Type="http://schemas.openxmlformats.org/officeDocument/2006/relationships/hyperlink" Target="https://arxiv.org/html/2311.0909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Computer Vision: From Pixels to Perception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technical deep-dive for engineers and AI practitioners — from foundational theory to real-world autonomous systems.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34AE8C-5FC1-C78E-C579-8E2F62785430}"/>
              </a:ext>
            </a:extLst>
          </p:cNvPr>
          <p:cNvSpPr txBox="1"/>
          <p:nvPr/>
        </p:nvSpPr>
        <p:spPr>
          <a:xfrm>
            <a:off x="2682240" y="4647451"/>
            <a:ext cx="2961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P.V.N. ANISH BABU (192472329)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Computer Vision?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629966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Machines That See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1993181"/>
            <a:ext cx="517758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Computer Vision is an interdisciplinary field at the intersection of artificial intelligence and image processing, enabling machines to interpret and understand visual data from images, videos, and 3D scenes.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74988" y="2801169"/>
            <a:ext cx="5177582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image processing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machine learning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deep learning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extract actionable information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Automates perception tasks that the human visual system performs naturally — but at machine speed and scale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Operates across static images, real-time video streams, and volumetric 3D data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0" y="377205"/>
            <a:ext cx="3291706" cy="4389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21481"/>
            <a:ext cx="4722763" cy="1287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 Context: Autonomous Vehicle Perception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3925119" y="1908423"/>
            <a:ext cx="2294855" cy="1664791"/>
          </a:xfrm>
          <a:prstGeom prst="roundRect">
            <a:avLst>
              <a:gd name="adj" fmla="val 346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67175" y="2050479"/>
            <a:ext cx="2010742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🚗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The Challenge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7175" y="2349550"/>
            <a:ext cx="2010742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Vehicles must perceive complex, dynamic environments in real-time to ensure safe navigation in transient, degraded, and dynamic conditions.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52952" y="1908423"/>
            <a:ext cx="2294930" cy="1664791"/>
          </a:xfrm>
          <a:prstGeom prst="roundRect">
            <a:avLst>
              <a:gd name="adj" fmla="val 346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5008" y="2050479"/>
            <a:ext cx="2010817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📋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Requirements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5008" y="2349550"/>
            <a:ext cx="2010817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pedestrians, vehicles, lane markings, traffic signs, and obstacles under varying lighting and weather conditions — simultaneously.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25119" y="3706192"/>
            <a:ext cx="4722763" cy="1015826"/>
          </a:xfrm>
          <a:prstGeom prst="roundRect">
            <a:avLst>
              <a:gd name="adj" fmla="val 567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7175" y="3848249"/>
            <a:ext cx="4438650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⚠️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The Stakes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67175" y="4147319"/>
            <a:ext cx="443865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safety-critical system where perception failures translate directly into accidents. Zero margin for error at 30+ fps.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5946"/>
            <a:ext cx="8151763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Computer Vision Pipeline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96119" y="801067"/>
            <a:ext cx="860896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Sequential processing stages — from raw sensor input to actionable output:</a:t>
            </a:r>
            <a:endParaRPr lang="en-US" sz="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71401"/>
            <a:ext cx="8151763" cy="35758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66551" y="3296542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Image Processing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966551" y="3800483"/>
            <a:ext cx="1232034" cy="42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Noise reduction, enhancement, normalization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80432" y="3296542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 &amp; Interpretation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80432" y="3800483"/>
            <a:ext cx="1232034" cy="42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Classifications, detections, decisions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2751" y="1292786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Image Acquisition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52751" y="1796728"/>
            <a:ext cx="1232034" cy="283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Cameras, LiDAR, radar, thermal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50944" y="1292786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Extraction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950944" y="1796728"/>
            <a:ext cx="1232034" cy="283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Edges, shapes, textures, patterns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4606379"/>
            <a:ext cx="860896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stage refines the signal — hardware sensors feed pre-processing, which feeds learned feature representations, which ultimately drive real-time decisions in systems like lane-keeping and obstacle avoidance.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084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Features of Computer Vision Systems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87351"/>
            <a:ext cx="1104900" cy="682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647355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 Detection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953866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Localize and classify objects — vehicles, pedestrians, signs — with precise bounding boxes in real time.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787351"/>
            <a:ext cx="1104900" cy="682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647355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Semantic Segmentation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175322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Classify every pixel into semantic categories: road, sidewalk, vegetation, sky, building.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787351"/>
            <a:ext cx="1104900" cy="6828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647355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Depth Estimation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2953866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 3D distance and spatial relationships from 2D image data — critical for obstacle clearance.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787351"/>
            <a:ext cx="1104900" cy="6828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647355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Motion Tracking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2953866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Follow and predict the trajectories of moving objects across consecutive video frames.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Three Levels of Computer Vision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136204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Low-Level Vision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288084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 processing of raw image data — edge detection, filtering, color conversion, and basic measurements. No contextual understanding yet.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5911" y="2525762"/>
            <a:ext cx="3986733" cy="9525"/>
          </a:xfrm>
          <a:prstGeom prst="roundRect">
            <a:avLst>
              <a:gd name="adj" fmla="val 50000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665911" y="259586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Mid-Level Vision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665911" y="2747739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detection, segmentation, optical flow analysis, and region grouping. Bridges raw pixels and semantic meaning.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4665911" y="2896865"/>
            <a:ext cx="3986733" cy="9525"/>
          </a:xfrm>
          <a:prstGeom prst="roundRect">
            <a:avLst>
              <a:gd name="adj" fmla="val 50000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665911" y="2966963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High-Level Vision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665911" y="3118842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 recognition, full scene understanding, semantic interpretation, and decision-making. Requires learned world models and context.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311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Deep Learning: The Modern Approach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36526"/>
            <a:ext cx="51832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 Landscape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492523"/>
            <a:ext cx="2527250" cy="14925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6430" y="1646634"/>
            <a:ext cx="214282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CNNs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26430" y="1986483"/>
            <a:ext cx="2142827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Break images into pixel grids; hierarchically learn edges → shapes → objects without explicit feature engineering.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52105" y="1492523"/>
            <a:ext cx="2527250" cy="14925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82417" y="1646634"/>
            <a:ext cx="214282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YOLO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382417" y="1986483"/>
            <a:ext cx="2142827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Single-pass real-time object detection. Frames detection as a regression problem — ideal for &lt;100ms latency constraints.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113782"/>
            <a:ext cx="2527250" cy="14925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6430" y="3267894"/>
            <a:ext cx="214282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DeepLabv3+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726430" y="3607743"/>
            <a:ext cx="2142827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State-of-the-art semantic segmentation using atrous convolutions for dense per-pixel classification.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52105" y="3113782"/>
            <a:ext cx="2527250" cy="14925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382417" y="3267894"/>
            <a:ext cx="214282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Transformers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3382417" y="3607743"/>
            <a:ext cx="2142827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Self-attention mechanisms for global context — excel at high-level scene understanding and cross-modal reasoning.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3772" y="1560091"/>
            <a:ext cx="2638797" cy="26387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6" y="378693"/>
            <a:ext cx="3289474" cy="43860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57870"/>
            <a:ext cx="472276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Autonomous Vehicles: Computer Vision in Action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3925119" y="1536055"/>
            <a:ext cx="4722763" cy="3149501"/>
          </a:xfrm>
          <a:prstGeom prst="roundRect">
            <a:avLst>
              <a:gd name="adj" fmla="val 186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29881" y="1540818"/>
            <a:ext cx="2356619" cy="2121917"/>
          </a:xfrm>
          <a:custGeom>
            <a:avLst/>
            <a:gdLst/>
            <a:ahLst/>
            <a:cxnLst/>
            <a:rect l="l" t="t" r="r" b="b"/>
            <a:pathLst>
              <a:path w="2356619" h="2121917">
                <a:moveTo>
                  <a:pt x="48843" y="0"/>
                </a:moveTo>
                <a:lnTo>
                  <a:pt x="2356619" y="0"/>
                </a:lnTo>
                <a:lnTo>
                  <a:pt x="2356619" y="2121917"/>
                </a:lnTo>
                <a:lnTo>
                  <a:pt x="0" y="2121917"/>
                </a:lnTo>
                <a:lnTo>
                  <a:pt x="0" y="48843"/>
                </a:lnTo>
                <a:arcTo wR="48843" hR="48843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4067249" y="1678186"/>
            <a:ext cx="187583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Sensor Fusion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67249" y="1978596"/>
            <a:ext cx="1875830" cy="1328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Multimodal fusion of RGB cameras, LiDAR, radar, and thermal imaging. Each modality compensates for the others' weaknesses under adverse conditions.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86500" y="1540818"/>
            <a:ext cx="2356619" cy="2121917"/>
          </a:xfrm>
          <a:custGeom>
            <a:avLst/>
            <a:gdLst/>
            <a:ahLst/>
            <a:cxnLst/>
            <a:rect l="l" t="t" r="r" b="b"/>
            <a:pathLst>
              <a:path w="2356619" h="2121917">
                <a:moveTo>
                  <a:pt x="0" y="0"/>
                </a:moveTo>
                <a:lnTo>
                  <a:pt x="2307776" y="0"/>
                </a:lnTo>
                <a:arcTo wR="48843" hR="48843" stAng="16200000" swAng="5400000"/>
                <a:lnTo>
                  <a:pt x="2356619" y="2121917"/>
                </a:lnTo>
                <a:lnTo>
                  <a:pt x="0" y="2121917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0" name="Shape 7"/>
          <p:cNvSpPr/>
          <p:nvPr/>
        </p:nvSpPr>
        <p:spPr>
          <a:xfrm>
            <a:off x="6286500" y="1540818"/>
            <a:ext cx="19050" cy="2121917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/>
        </p:spPr>
      </p:sp>
      <p:sp>
        <p:nvSpPr>
          <p:cNvPr id="11" name="Text 8"/>
          <p:cNvSpPr/>
          <p:nvPr/>
        </p:nvSpPr>
        <p:spPr>
          <a:xfrm>
            <a:off x="6629921" y="1678186"/>
            <a:ext cx="1875830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Critical Perception Tasks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629921" y="2196629"/>
            <a:ext cx="1875830" cy="1328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Lane detection, traffic sign recognition, pedestrian detection, and obstacle avoidance — all running simultaneously on embedded hardware.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12073" y="2427312"/>
            <a:ext cx="348853" cy="348853"/>
          </a:xfrm>
          <a:prstGeom prst="roundRect">
            <a:avLst>
              <a:gd name="adj" fmla="val 1680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9287" y="2514526"/>
            <a:ext cx="174427" cy="174427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929881" y="3662735"/>
            <a:ext cx="4713238" cy="1018059"/>
          </a:xfrm>
          <a:custGeom>
            <a:avLst/>
            <a:gdLst/>
            <a:ahLst/>
            <a:cxnLst/>
            <a:rect l="l" t="t" r="r" b="b"/>
            <a:pathLst>
              <a:path w="4713238" h="1018059">
                <a:moveTo>
                  <a:pt x="0" y="0"/>
                </a:moveTo>
                <a:lnTo>
                  <a:pt x="4713238" y="0"/>
                </a:lnTo>
                <a:lnTo>
                  <a:pt x="4713238" y="969216"/>
                </a:lnTo>
                <a:arcTo wR="48843" hR="48843" stAng="0" swAng="5400000"/>
                <a:lnTo>
                  <a:pt x="48843" y="1018059"/>
                </a:lnTo>
                <a:arcTo wR="48843" hR="48843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6" name="Shape 12"/>
          <p:cNvSpPr/>
          <p:nvPr/>
        </p:nvSpPr>
        <p:spPr>
          <a:xfrm>
            <a:off x="3929881" y="3662735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/>
        </p:spPr>
      </p:sp>
      <p:sp>
        <p:nvSpPr>
          <p:cNvPr id="17" name="Text 13"/>
          <p:cNvSpPr/>
          <p:nvPr/>
        </p:nvSpPr>
        <p:spPr>
          <a:xfrm>
            <a:off x="4067249" y="3800103"/>
            <a:ext cx="423244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Constraint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067249" y="4100513"/>
            <a:ext cx="423244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Systems must process </a:t>
            </a: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30+ frames per second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</a:t>
            </a: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&lt;100ms end-to-end latency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hard deadlines where any slip compromises safety.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090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Computer Vision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213619"/>
            <a:ext cx="2602781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$23.6B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96119" y="1846883"/>
            <a:ext cx="260278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Market Value (2025)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147292"/>
            <a:ext cx="260278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Computer Vision market valuation in 2025, driven by autonomous systems and industrial AI.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70572" y="1213619"/>
            <a:ext cx="2602781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$101.5B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70572" y="1846883"/>
            <a:ext cx="260278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Projected by 2033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0572" y="2147292"/>
            <a:ext cx="260278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Forecasted market size — a ~4.3× expansion reflecting adoption across every major industry vertical.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45026" y="1213619"/>
            <a:ext cx="2602855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045026" y="1846883"/>
            <a:ext cx="260285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FPS Required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5026" y="2147292"/>
            <a:ext cx="260285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Minimum frame throughput for safe autonomous perception — the real-time engineering bar every production system must clear.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6119" y="3324969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Industry Applications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119" y="3680371"/>
            <a:ext cx="3905696" cy="981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Manufacturing: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Automated defect detection and quality control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Healthcare: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Medical image analysis and diagnostic support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Retail: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Inventory management and checkout automation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46947" y="3324969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Autonomous Systems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46947" y="3680371"/>
            <a:ext cx="3905696" cy="981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Vehicles: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Full-stack perception for self-driving platforms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Drones: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Navigation, obstacle avoidance, inspection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Robotics: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Manipulation, pick-and-place, scene understanding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979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 Challenges &amp; Future Directions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69194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Open Engineering Problems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525191"/>
            <a:ext cx="1891159" cy="25248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0346" y="1617836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50230" y="2078310"/>
            <a:ext cx="158293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Environmental Variability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0230" y="2629272"/>
            <a:ext cx="1582936" cy="1266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Adverse weather (fog, rain, snow), lighting extremes, and occlusions systematically degrade model performance in deployment.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6014" y="1525191"/>
            <a:ext cx="1891159" cy="25248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60241" y="1617836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2670125" y="2078310"/>
            <a:ext cx="15829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Limitations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70125" y="2418159"/>
            <a:ext cx="1582936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Annotated training data is expensive, slow to produce, and rarely covers long-tail edge cases that matter most for safety.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741590" y="1169194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Emerging Solutions &amp; Next Frontier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92266" y="1529321"/>
            <a:ext cx="202629" cy="20262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80633" y="1525191"/>
            <a:ext cx="143596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Self-Supervised Learning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180633" y="2076152"/>
            <a:ext cx="1435968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Leverage unlabeled video at scale to learn robust representations without costly manual annotation.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28234" y="1529321"/>
            <a:ext cx="202629" cy="20262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16601" y="1525191"/>
            <a:ext cx="143604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Cross-Modal Transformers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7216601" y="2076152"/>
            <a:ext cx="1436043" cy="1266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Fuse camera, LiDAR, and radar streams within a unified attention architecture for holistic scene understanding.</a:t>
            </a:r>
            <a:endParaRPr lang="en-US" sz="10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92266" y="3604506"/>
            <a:ext cx="202629" cy="20262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80633" y="3600376"/>
            <a:ext cx="347201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Multimodal AI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5180633" y="3940225"/>
            <a:ext cx="3472011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Combining vision with language models and reasoning engines — the next frontier for higher-level semantic scene comprehension.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9071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Sources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17216"/>
            <a:ext cx="8151763" cy="1835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Computer Vision 101 - GeeksforGeeks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Applications of Computer Vision in Autonomous Vehicles: Methods, Challenges and Future Directions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Are The Three Levels Of Computer Vision? - Metaeye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Computer Vision? A Beginner's Guide in 2024 | atomcamp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Multi-sensor fusion and deep learning for road scene understanding: a comprehensive survey | Artificial Intelligence Review | Springer Nature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Computer Vision and Enterprise Applications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912</Words>
  <Application>Microsoft Office PowerPoint</Application>
  <PresentationFormat>On-screen Show (16:9)</PresentationFormat>
  <Paragraphs>111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Roboto Bold</vt:lpstr>
      <vt:lpstr>Roboto</vt:lpstr>
      <vt:lpstr>Raleway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anish polisetty</cp:lastModifiedBy>
  <cp:revision>2</cp:revision>
  <dcterms:created xsi:type="dcterms:W3CDTF">2026-08-03T13:54:48Z</dcterms:created>
  <dcterms:modified xsi:type="dcterms:W3CDTF">2026-08-03T13:58:02Z</dcterms:modified>
</cp:coreProperties>
</file>